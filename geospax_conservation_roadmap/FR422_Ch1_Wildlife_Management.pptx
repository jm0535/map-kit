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FR422 Chapter 1 (Weeks 1-2). Covers definitions, relevance to PNG forestry, and New Guinea's rich and prehistoric wildlife. Maps to LO1-LO4. Fonts sized for a large lecture hall.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wildlife = non-domesticated and free-living. Ask students for local-language names of the cuscus and other species.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Lesson-plan link: 'Why is wildlife management essential for forest management in PNG?' Ecological, cultural, economic value + threats.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New Guinea's rich wildlife. Emphasise endemism and the global significance of PNG's forests.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prehistoric wildlife. Gondwanan ancestry, Sahul land bridge, megafauna extinctions, deep human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discussion questions as a think-pair-share or oral quiz to reinforce LO1-LO4.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ggiana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ellipse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4300F">
              <a:alpha val="88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FR422 · FOREST WILDLIFE AND HABITAT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85800" y="19202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Wildlife Management?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731520" y="4114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 ·  Why it matters for PNG forests  ·  New Guinea's rich and prehistoric wildlife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(Weeks 1–2)</a:t>
            </a:r>
            <a:pPr indent="0" marL="0">
              <a:buNone/>
            </a:pPr>
            <a:r>
              <a:rPr lang="en-US" sz="17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School of Forestry, PNG University of Technology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Jimmy Moses (Ph.D.)   ·   Semester 2, 2026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33147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48006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'wildlife' and 'wildlife management' mean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3346704" y="196596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21024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3621024" y="306324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484" y="33147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75304" y="48006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wildlife underpins PNG forest management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6144768" y="196596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19088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6419088" y="306324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33147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wildlife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373368" y="48006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Earth's richest, most distinctive faunas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8942832" y="196596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217152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Shape 19"/>
          <p:cNvSpPr/>
          <p:nvPr/>
        </p:nvSpPr>
        <p:spPr>
          <a:xfrm>
            <a:off x="9217152" y="306324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612" y="331470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Prehistoric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171432" y="48006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Deep-time origins and megafauna of the island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Learning Outcomes LO1–LO4 of the FR422 lesson plan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inforest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ellipse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68880"/>
            <a:ext cx="8412480" cy="2286000"/>
          </a:xfrm>
          <a:prstGeom prst="rect">
            <a:avLst/>
          </a:prstGeom>
          <a:solidFill>
            <a:srgbClr val="14300F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 shared vocabulary before we manage anything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Wildlife?</a:t>
            </a:r>
            <a:endParaRPr lang="en-US" sz="4000" dirty="0"/>
          </a:p>
        </p:txBody>
      </p:sp>
      <p:pic>
        <p:nvPicPr>
          <p:cNvPr id="4" name="Image 0" descr="./photos/cuscus_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828800"/>
            <a:ext cx="4023360" cy="4160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6720840" cy="4160520"/>
          </a:xfrm>
          <a:prstGeom prst="roundRect">
            <a:avLst>
              <a:gd name="adj" fmla="val 2637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57400"/>
            <a:ext cx="6080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= all non-domesticated living organisms — animals, and in the broader sense plants, fungi and other organisms — that live in the wild, growing and reproducing without being introduced or tended by humans.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342900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3607308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341071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animals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737360" y="37947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Mammals, birds, reptiles, amphibians, fish and invertebrates in natural habitats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68680" y="427024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448556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42519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ecological sense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737360" y="463600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include wild plants, fungi and whole biological communities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68680" y="5111496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5289804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37360" y="509320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Free-living &amp; self-sustaining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737360" y="547725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 persist and reproduce without human husbandry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635240" y="6053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Spotted Cuscus (Spilocuscus maculatus) — a New Guinea marsupial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Wildlife Management?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of ecological principles and management tools to sustain, restore or regulate wildlife populations and their habitats — balancing the needs of wildlife, ecosystems and people.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353872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79476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40462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regulate numbers — births, deaths, harvest and recovery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33672" y="3520440"/>
            <a:ext cx="353872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379476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40462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3712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553712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restore and improve the places wildlife depends on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918704" y="3520440"/>
            <a:ext cx="353872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38744" y="379476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40462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238744" y="5394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human use, livelihoods and culture with conservation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VOCABULARY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You'll Use All Semester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79142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2128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environment where an organism lives — food, water, shelter and space.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0848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2279142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2128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26280" y="2926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individuals of one species living in the same area and interbreeding.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0848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2279142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22128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229600" y="2926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of living things interacting with each other and their physical environment.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3367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4427982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43616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22960" y="5074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variety of life — genes, species and ecosystems — in a place.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5196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3367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4427982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3616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4526280" y="5074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wildlife at a rate that lets populations renew themselves indefinitely.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95528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23367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427982"/>
            <a:ext cx="388620" cy="3886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25712" y="43616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8229600" y="5074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and managing wildlife and habitats to prevent loss and decline.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MANAGERS ACTUALLY 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Goals of Wildlife Management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24028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4917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numbers of rare, threatened or valued species through protection and recovery.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46704" y="19202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87952" y="224028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4917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STABILISE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575304" y="3977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population steady at a healthy, sustainable level over time.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44768" y="19202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86016" y="224028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4917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1928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373368" y="3977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regulated, sustainable use — hunting or harvest within safe limits.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942832" y="19202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84080" y="2240280"/>
            <a:ext cx="1005840" cy="100584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24917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171432" y="3977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overabundant, pest or invasive species that damage habitats or people.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inforest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ellipse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68880"/>
            <a:ext cx="8412480" cy="2286000"/>
          </a:xfrm>
          <a:prstGeom prst="rect">
            <a:avLst/>
          </a:prstGeom>
          <a:solidFill>
            <a:srgbClr val="14300F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PNG Forests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management is inseparable from sustainable forest management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Wildlife Management Matters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2140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338578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40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value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pollinate, disperse seeds and regulate the forest. Cassowaries and fruit bats are keystone seed-dispersers that keep PNG forests regenerating.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12140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2338578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40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value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is woven into custom, identity, ornament and ritual across PNG. Management must respect traditional ownership and practice.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1596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" y="4533138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34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value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68680" y="5166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Bushmeat, eco-tourism, bioprospecting and sustainable use provide livelihoods. Well-managed wildlife is a renewable resource.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31596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4533138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434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&amp; pressures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492240" y="5166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loss from logging and agriculture, over-hunting, invasive species and climate change all place forest wildlife at risk.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SPECIES SPOTLIGHT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Engineers of New Guinea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38728" cy="420624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5" name="Image 0" descr="./photos/cassowary_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103120"/>
            <a:ext cx="3081528" cy="20574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Cassowary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7091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Swallows large fruits whole and disperses big seeds few other animals can — vital for rainforest tree regeneration.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33672" y="1874520"/>
            <a:ext cx="3538728" cy="420624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9" name="Image 1" descr="./photos/flyingfox_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2272" y="2103120"/>
            <a:ext cx="3081528" cy="205740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7992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bats / flying foxes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07992" y="47091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long distances at night, spreading seeds and pollinating forest trees across the landscape.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18704" y="1874520"/>
            <a:ext cx="3538728" cy="420624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13" name="Image 2" descr="./photos/frog_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47304" y="2103120"/>
            <a:ext cx="3081528" cy="2057400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3024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Frogs &amp; insects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93024" y="47091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insect numbers and form the base of food webs; sensitive indicators of forest health.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389120" cy="4389120"/>
          </a:xfrm>
          <a:prstGeom prst="ellipse">
            <a:avLst/>
          </a:prstGeom>
          <a:solidFill>
            <a:srgbClr val="1F46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and Forests Are One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one well and you sustain the other — this is why FR422 sits inside a forestry degree.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496312" cy="3200400"/>
          </a:xfrm>
          <a:prstGeom prst="roundRect">
            <a:avLst>
              <a:gd name="adj" fmla="val 4396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26464" y="3035808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32644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4114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forest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672" y="4828032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food, shelter and breeding habitat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2608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511296" y="2743200"/>
            <a:ext cx="2496312" cy="3200400"/>
          </a:xfrm>
          <a:prstGeom prst="roundRect">
            <a:avLst>
              <a:gd name="adj" fmla="val 4396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3035808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2644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0168" y="4114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thrives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75888" y="4828032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 stay viable and diverse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797296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382512" y="2743200"/>
            <a:ext cx="2496312" cy="3200400"/>
          </a:xfrm>
          <a:prstGeom prst="roundRect">
            <a:avLst>
              <a:gd name="adj" fmla="val 4396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68896" y="3035808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326440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01384" y="4114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regenerates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47104" y="4828032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dispersal &amp; pollination renew it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668512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800" dirty="0"/>
          </a:p>
        </p:txBody>
      </p:sp>
      <p:sp>
        <p:nvSpPr>
          <p:cNvPr id="24" name="Shape 19"/>
          <p:cNvSpPr/>
          <p:nvPr/>
        </p:nvSpPr>
        <p:spPr>
          <a:xfrm>
            <a:off x="9253728" y="2743200"/>
            <a:ext cx="2496312" cy="3200400"/>
          </a:xfrm>
          <a:prstGeom prst="roundRect">
            <a:avLst>
              <a:gd name="adj" fmla="val 4396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0040112" y="3035808"/>
            <a:ext cx="914400" cy="91440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326440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72600" y="4114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benefit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418320" y="4828032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culture &amp; livelihoods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ggiana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ellipse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68880"/>
            <a:ext cx="8412480" cy="2286000"/>
          </a:xfrm>
          <a:prstGeom prst="rect">
            <a:avLst/>
          </a:prstGeom>
          <a:solidFill>
            <a:srgbClr val="14300F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Guinea's Rich Wildlife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megadiverse island of endemic and extraordinary species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BIODIVERSITY HOTSPOT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Island of Extraordinary Diversity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 species on under 1% of Earth's land area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33672" y="187452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16552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07992" y="30175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species, including most birds-of-paradise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18704" y="187452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~2/3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193024" y="30175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its species estimated to occur nowhere else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916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 forester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Guinea holds the third-largest tract of tropical rainforest on Earth, after the Amazon and the Congo. Its wildlife and its forests rise or fall together — which makes sound wildlife management a national responsibility, not an optional extra.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WILDLIFE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Icons of New Guinea's Fauna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5" name="Image 0" descr="./photos/raggiana_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029968"/>
            <a:ext cx="2295144" cy="21488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Birds-of-paradise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77240" y="4892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Dazzling endemic display birds; the Raggiana is PNG's national bird (the 'kumul').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46704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9" name="Image 1" descr="./photos/treekangaroo_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47872" y="2029968"/>
            <a:ext cx="2295144" cy="214884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75304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Tree-kangaroos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575304" y="4892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Arboreal marsupials of the canopy — kangaroos that took to the trees.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44768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13" name="Image 2" descr="./photos/cuscus_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45936" y="2029968"/>
            <a:ext cx="2295144" cy="2148840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3368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Cuscus &amp; possums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373368" y="4892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nocturnal marsupials found throughout the forests.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42832" y="18288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17" name="Image 3" descr="./photos/frog_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0" y="2029968"/>
            <a:ext cx="2295144" cy="2148840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71432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Frogs &amp; reptiles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171432" y="4892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Huge, largely endemic radiations — new species still being described.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DRIVERS OF DIVERSITY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New Guinea So Rich?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48840"/>
            <a:ext cx="868680" cy="868680"/>
          </a:xfrm>
          <a:prstGeom prst="ellipse">
            <a:avLst/>
          </a:prstGeom>
          <a:solidFill>
            <a:srgbClr val="F4F7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36601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topography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94436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to peaks over 4,500 m creates a ladder of climate zones and habitats side by side.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148840"/>
            <a:ext cx="868680" cy="868680"/>
          </a:xfrm>
          <a:prstGeom prst="ellipse">
            <a:avLst/>
          </a:prstGeom>
          <a:solidFill>
            <a:srgbClr val="F4F7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236601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&amp; isolated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92240" y="294436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tropical island long separated by sea, driving in-place evolution of unique lineages.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43400"/>
            <a:ext cx="868680" cy="868680"/>
          </a:xfrm>
          <a:prstGeom prst="ellipse">
            <a:avLst/>
          </a:prstGeom>
          <a:solidFill>
            <a:srgbClr val="F4F7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" y="456057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80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origins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8680" y="513892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of Australian (marsupial) and Asian faunas produced unusual combinations found nowhere else.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343400"/>
            <a:ext cx="868680" cy="868680"/>
          </a:xfrm>
          <a:prstGeom prst="ellipse">
            <a:avLst/>
          </a:prstGeom>
          <a:solidFill>
            <a:srgbClr val="F4F7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456057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480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intact forest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492240" y="513892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Extensive, structurally complex rainforest offers countless ecological niches to fill.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NOWHERE ELSE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Endemism: New Guinea's Signature</a:t>
            </a:r>
            <a:endParaRPr lang="en-US" sz="4000" dirty="0"/>
          </a:p>
        </p:txBody>
      </p:sp>
      <p:pic>
        <p:nvPicPr>
          <p:cNvPr id="4" name="Image 0" descr="./photos/treekangaroo_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828800"/>
            <a:ext cx="3429000" cy="420624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7360920" cy="4206240"/>
          </a:xfrm>
          <a:prstGeom prst="roundRect">
            <a:avLst>
              <a:gd name="adj" fmla="val 260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57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Endemic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species is </a:t>
            </a:r>
            <a:pPr indent="0" marL="0">
              <a:buNone/>
            </a:pPr>
            <a:r>
              <a:rPr lang="en-US" sz="19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endemic</a:t>
            </a:r>
            <a:pPr indent="0" marL="0">
              <a:buNone/>
            </a:pPr>
            <a:r>
              <a:rPr lang="en-US" sz="19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it is found naturally in one place and nowhere else on Earth.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7376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6118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birds-of-paradise are endemic to the New Guinea region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68680" y="42336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35940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23367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tree-kangaroo species are restricted to New Guinea and nearby areas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68680" y="485546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981194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85546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frog and reptile groups occur only here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68680" y="54772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5602986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547725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species are still being discovered and named today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68680" y="5623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Endemic species carry a special duty of care — if lost here, they are lost everywhere.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229600" y="6053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Goodfellow's Tree-kangaroo (Dendrolagus)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inforest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ellipse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468880"/>
            <a:ext cx="8412480" cy="2286000"/>
          </a:xfrm>
          <a:prstGeom prst="rect">
            <a:avLst/>
          </a:prstGeom>
          <a:solidFill>
            <a:srgbClr val="14300F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Prehistoric Wildlife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Deep-time origins that shaped today's fauna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TODAY'S FAUNA CAME TO BE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Guinea's Deep-Time Story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1762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Ancient roots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Gondwanan ancestry.  </a:t>
            </a:r>
            <a:pPr indent="0" marL="0">
              <a:buNone/>
            </a:pPr>
            <a:r>
              <a:rPr lang="en-US" sz="16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Guinea's marsupials and many plant lineages descend from the ancient southern supercontinent of Gondwana, sharing deep ancestry with Australia.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Sahul land bridge.  </a:t>
            </a:r>
            <a:pPr indent="0" marL="0">
              <a:buNone/>
            </a:pPr>
            <a:r>
              <a:rPr lang="en-US" sz="16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 stretches of the Ice Age, lower sea levels joined New Guinea and Australia into one landmass — Sahul — letting animals move between them.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468112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2057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Megafauna &amp; extinctions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92240" y="2697480"/>
            <a:ext cx="685800" cy="68580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8689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67919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Marsupial megafauna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30815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relatives of today's marsupials — including large browsing diprotodontids — once roamed the region.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92240" y="3794760"/>
            <a:ext cx="685800" cy="68580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39662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37764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Ice-Age losses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315200" y="41788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the largest species vanished in the late Quaternary, alongside climate shifts and human arrival.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92240" y="4892040"/>
            <a:ext cx="685800" cy="68580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506349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8737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human presence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315200" y="527608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have lived in New Guinea for tens of thousands of years, hunting and shaping habitats.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TIMELINE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Gondwana to Today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786384"/>
          </a:xfrm>
          <a:prstGeom prst="roundRect">
            <a:avLst>
              <a:gd name="adj" fmla="val 13953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082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0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874520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Gondwana breaks up; marsupial and ancient plant lineages become isolated in the Australia–New Guinea region.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91672" cy="786384"/>
          </a:xfrm>
          <a:prstGeom prst="roundRect">
            <a:avLst>
              <a:gd name="adj" fmla="val 13953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9864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752344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2752344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levels fall and rise; New Guinea and Australia repeatedly join as Sahul and separate again.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11091672" cy="786384"/>
          </a:xfrm>
          <a:prstGeom prst="roundRect">
            <a:avLst>
              <a:gd name="adj" fmla="val 13953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7647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63016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~50,000+ yrs ago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3630168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reach New Guinea, hunting wildlife and beginning to shape forests and grasslands.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507992"/>
            <a:ext cx="11091672" cy="786384"/>
          </a:xfrm>
          <a:prstGeom prst="roundRect">
            <a:avLst>
              <a:gd name="adj" fmla="val 13953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654296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507992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Ice Age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114800" y="4507992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of the largest megafauna disappears amid climate change and human pressure.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5385816"/>
            <a:ext cx="11091672" cy="786384"/>
          </a:xfrm>
          <a:prstGeom prst="roundRect">
            <a:avLst>
              <a:gd name="adj" fmla="val 13953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532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385816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114800" y="5385816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rich, highly endemic fauna survives — the living legacy we now aim to conserve.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PREHISTORY TO NOW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Pressures on Wildlife</a:t>
            </a:r>
            <a:endParaRPr lang="en-US" sz="4000" dirty="0"/>
          </a:p>
        </p:txBody>
      </p:sp>
      <p:pic>
        <p:nvPicPr>
          <p:cNvPr id="4" name="Image 0" descr="./photos/logging_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5120640" cy="41605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clearing and logging remove the habitat wildlife depends 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943600" y="1828800"/>
            <a:ext cx="5696712" cy="960120"/>
          </a:xfrm>
          <a:prstGeom prst="roundRect">
            <a:avLst>
              <a:gd name="adj" fmla="val 11429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20116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19385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loss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903720" y="23317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mining and clearing for agriculture fragment and destroy forest.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943600" y="2880360"/>
            <a:ext cx="5696712" cy="960120"/>
          </a:xfrm>
          <a:prstGeom prst="roundRect">
            <a:avLst>
              <a:gd name="adj" fmla="val 1142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172200" y="3063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321183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29900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Over-hunting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903720" y="33832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hunting can push valued species into decline.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43600" y="3931920"/>
            <a:ext cx="5696712" cy="960120"/>
          </a:xfrm>
          <a:prstGeom prst="roundRect">
            <a:avLst>
              <a:gd name="adj" fmla="val 11429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72200" y="4114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90" y="426339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40416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species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903720" y="44348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animals and plants outcompete or prey on native wildlife.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943600" y="4983480"/>
            <a:ext cx="5696712" cy="960120"/>
          </a:xfrm>
          <a:prstGeom prst="roundRect">
            <a:avLst>
              <a:gd name="adj" fmla="val 11429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172200" y="5166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790" y="5314950"/>
            <a:ext cx="297180" cy="2971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50932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903720" y="54864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climate zones threaten mountain and specialist species.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1F46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IT TOGETHER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Chapter Comes 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72800" cy="1170432"/>
          </a:xfrm>
          <a:prstGeom prst="roundRect">
            <a:avLst>
              <a:gd name="adj" fmla="val 9375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68296"/>
            <a:ext cx="731520" cy="73152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5117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86000"/>
            <a:ext cx="3383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defined the field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49240" y="2267712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wildlife and management mean gives us a shared language for the whole course.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47288"/>
            <a:ext cx="10972800" cy="1170432"/>
          </a:xfrm>
          <a:prstGeom prst="roundRect">
            <a:avLst>
              <a:gd name="adj" fmla="val 9375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666744"/>
            <a:ext cx="731520" cy="73152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84962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584448"/>
            <a:ext cx="3383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placed it in PNG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349240" y="35661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management protects the forests, culture and economy this degree serves.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4745736"/>
            <a:ext cx="10972800" cy="1170432"/>
          </a:xfrm>
          <a:prstGeom prst="roundRect">
            <a:avLst>
              <a:gd name="adj" fmla="val 9375"/>
            </a:avLst>
          </a:prstGeom>
          <a:solidFill>
            <a:srgbClr val="1F4620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965192"/>
            <a:ext cx="731520" cy="731520"/>
          </a:xfrm>
          <a:prstGeom prst="ellipse">
            <a:avLst/>
          </a:prstGeom>
          <a:solidFill>
            <a:srgbClr val="14300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480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882896"/>
            <a:ext cx="3383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back in time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349240" y="486460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deep-time origins explains why today's fauna is so rich — and so worth conserving.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48840"/>
            <a:ext cx="868680" cy="86868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36601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128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defined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ecological principles to sustain wildlife populations, habitats and human needs together.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148840"/>
            <a:ext cx="868680" cy="86868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236601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128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forests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drives forest regeneration and carries deep cultural and economic value — core to forestry.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297680"/>
            <a:ext cx="868680" cy="86868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" y="451485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3616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world-class fauna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8680" y="5074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Guinea is megadiverse and highly endemic — shaped by topography, isolation and mixed origins.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297680"/>
            <a:ext cx="868680" cy="868680"/>
          </a:xfrm>
          <a:prstGeom prst="ellipse">
            <a:avLst/>
          </a:prstGeom>
          <a:solidFill>
            <a:srgbClr val="E8F0E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451485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616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deep time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492240" y="5074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wildlife reflects a Gondwanan, Ice-Age and human-shaped prehistory we must conserve.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4000" dirty="0"/>
          </a:p>
        </p:txBody>
      </p:sp>
      <p:pic>
        <p:nvPicPr>
          <p:cNvPr id="4" name="Image 0" descr="./photos/cassowary_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1828800"/>
            <a:ext cx="3703320" cy="41605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7178040" cy="932688"/>
          </a:xfrm>
          <a:prstGeom prst="roundRect">
            <a:avLst>
              <a:gd name="adj" fmla="val 11765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075688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756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874520"/>
            <a:ext cx="6172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how would you define wildlife management to a village leader?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898648"/>
            <a:ext cx="7178040" cy="932688"/>
          </a:xfrm>
          <a:prstGeom prst="roundRect">
            <a:avLst>
              <a:gd name="adj" fmla="val 11765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09981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099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2898648"/>
            <a:ext cx="6172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PNG species and explain the ecological, cultural or economic value it provides.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922776"/>
            <a:ext cx="7178040" cy="932688"/>
          </a:xfrm>
          <a:prstGeom prst="roundRect">
            <a:avLst>
              <a:gd name="adj" fmla="val 11765"/>
            </a:avLst>
          </a:prstGeom>
          <a:solidFill>
            <a:srgbClr val="F4F7F1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4123944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1239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3922776"/>
            <a:ext cx="6172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forests in PNG be managed well without also managing wildlife?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946904"/>
            <a:ext cx="7178040" cy="932688"/>
          </a:xfrm>
          <a:prstGeom prst="roundRect">
            <a:avLst>
              <a:gd name="adj" fmla="val 11765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5148072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148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63040" y="4946904"/>
            <a:ext cx="6172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for a species to be 'endemic', and why does that raise the stakes for conservation?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955280" y="605332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Cassowary — a keystone seed-disperser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Recap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Non-domesticated, free-living organisms in natural habitats.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management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3957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ecology and tools to sustain populations, habitats and human needs.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37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home providing food, water, shelter and space.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32004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337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Endemic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7673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naturally in one place and nowhere else on Earth.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8F0E2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709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species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1389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species with an outsized role in holding its ecosystem together.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72200" y="457200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7A7A7A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51389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 at a rate populations can renew indefinitely.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hotos/raggiana_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ellipse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0F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4300F">
              <a:alpha val="7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Wildlife Management in PNG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49808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laws and conservation areas that put these ideas into practice (Chapter 2).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49808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FR422 · School of Forestry · PNG University of Technology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612880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2026-07-27T22:34:14Z</dcterms:created>
  <dcterms:modified xsi:type="dcterms:W3CDTF">2026-07-27T22:34:14Z</dcterms:modified>
</cp:coreProperties>
</file>