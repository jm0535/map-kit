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FR422 Chapter 2 (Week 3). Rebuilt from Dr Moses's original lecture: same content and source images, larger type and consistent layout for lecture-hall legibility.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the original slide listed a 'Wildlife Protection Act'. PNG has no statute of that name — the core wildlife law is the Fauna (Protection and Control) Act 1966. Conservation Areas Act 1978 and National Parks Act 1982 are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Tonda and Maza in the table are Wildlife Management Areas, not national parks. Actual national parks include Varirata, McAdam, Mount Gahavisuka.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Kuk (2008) is PNG's ONLY inscribed World Heritage Site. Parliament House is not a World Heritage Site — the seven other candidates are on the tentative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hotos/ch2/title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0F">
              <a:alpha val="74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rgbClr val="14300F">
              <a:alpha val="9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394960" y="1417320"/>
            <a:ext cx="6217920" cy="4114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3"/>
          <p:cNvSpPr/>
          <p:nvPr/>
        </p:nvSpPr>
        <p:spPr>
          <a:xfrm>
            <a:off x="5394960" y="914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FR422 · FOREST WILDLIFE AND HABITAT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94960" y="1828800"/>
            <a:ext cx="6309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Wildlife Management in Papua New Guinea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5394960" y="4800600"/>
            <a:ext cx="6217920" cy="4114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6"/>
          <p:cNvSpPr/>
          <p:nvPr/>
        </p:nvSpPr>
        <p:spPr>
          <a:xfrm>
            <a:off x="5394960" y="502920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·  Week 3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Forestry, PNG University of Technology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J. Moses (Ph.D.)  ·  Semester 2, 2026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84832"/>
            <a:ext cx="658368" cy="658368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4942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39112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management policies in PNG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14400" y="2907792"/>
            <a:ext cx="658368" cy="658368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07238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2862072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governing wildlife management in PNG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914400" y="3730752"/>
            <a:ext cx="658368" cy="658368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89534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3685032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conservation areas in PNG (WMA, National Parks, Conservation Areas, etc.)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914400" y="4553712"/>
            <a:ext cx="658368" cy="658368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718304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828800" y="4507992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Heritage Sites &amp; others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914400" y="5376672"/>
            <a:ext cx="658368" cy="658368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5541264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828800" y="5330952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Forestry and wildlife management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hotos/rainforest_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0F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423160"/>
            <a:ext cx="8778240" cy="2377440"/>
          </a:xfrm>
          <a:prstGeom prst="rect">
            <a:avLst/>
          </a:prstGeom>
          <a:solidFill>
            <a:srgbClr val="14300F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0972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731520" y="26974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Wildlife Management Policies in PNG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77240" y="41148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resource use · Conservation · Protection of endangered species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PICTURE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Wildlife Management Policies in PNG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00400" cy="39776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pic>
        <p:nvPicPr>
          <p:cNvPr id="5" name="Image 0" descr="./photos/ch2/cep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47672"/>
            <a:ext cx="2871216" cy="3648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155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pngcepa.com/about-us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931920" y="1783080"/>
            <a:ext cx="3200400" cy="39776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pic>
        <p:nvPicPr>
          <p:cNvPr id="8" name="Image 1" descr="./photos/ch2/jic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96512" y="1947672"/>
            <a:ext cx="2871216" cy="3648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31920" y="58155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CEPA–JICA Biodiversity Project 2015–2020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15200" y="1783080"/>
            <a:ext cx="434340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recognises the importance of wildlife management and has implemented policies to safeguard its rich biodiversity.</a:t>
            </a:r>
            <a:endParaRPr lang="en-US" sz="19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focuses on three things:</a:t>
            </a:r>
            <a:endParaRPr lang="en-US" sz="19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resource use</a:t>
            </a:r>
            <a:endParaRPr lang="en-US" sz="19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</a:t>
            </a:r>
            <a:endParaRPr lang="en-US" sz="19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of endangered species</a:t>
            </a:r>
            <a:endParaRPr lang="en-US" sz="19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policies balance local community needs, economic development and the long-term survival of PNG's wildlife.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POLICY PILLARS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PNG's Wildlife Policy Focuses 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38728" cy="41148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28216" y="2194560"/>
            <a:ext cx="1188720" cy="118872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396" y="24917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611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resource use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04672" y="4526280"/>
            <a:ext cx="30358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natural resources to meet today's needs without compromising future generations.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233672" y="1874520"/>
            <a:ext cx="3538728" cy="41148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13248" y="2194560"/>
            <a:ext cx="1188720" cy="118872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428" y="249174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9704" y="3611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489704" y="4526280"/>
            <a:ext cx="30358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Protecting, managing and sustainably using ecosystems and biodiversity.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918704" y="1874520"/>
            <a:ext cx="3538728" cy="41148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098280" y="2194560"/>
            <a:ext cx="1188720" cy="118872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249174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4736" y="3611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of endangered species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174736" y="4526280"/>
            <a:ext cx="30358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extinction and promoting recovery of at-risk species.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PILLAR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Resource Use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pic>
        <p:nvPicPr>
          <p:cNvPr id="5" name="Image 0" descr="./photos/ch2/touris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47672"/>
            <a:ext cx="5248656" cy="32826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6811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PNG's forests, reefs, rivers and wildlife — the resources being managed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5806440"/>
            <a:ext cx="5577840" cy="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783080"/>
            <a:ext cx="525780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21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natural resources in a way that meets the needs of the present generation without compromising the ability of future generations to meet their own needs.</a:t>
            </a:r>
            <a:endParaRPr lang="en-US" sz="21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21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ensures long-term availability of resources while minimising negative environmental, social and economic impacts.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PILLAR 1 · KEY PRINCIPLES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Sustainable Resource Use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3431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20824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303520" y="2002536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resources so they are available for future generations — preventing overexploitation or depletion.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611880"/>
            <a:ext cx="777240" cy="7772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38061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483864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preservation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303520" y="3465576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that ecosystems are interconnected; maintain healthy, diverse plant and animal populations.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5074920"/>
            <a:ext cx="777240" cy="7772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526923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946904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Minimising waste and pollution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5303520" y="4928616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resources efficiently; reduce extraction, promote recycling and reuse, limit environmental impact.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PILLAR 1 · KEY PRINCIPLES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Sustainable Resource Use (cont.)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3431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20824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resource management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394960" y="2002536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Forests, fisheries and water must be managed so they regenerate and remain continuously available.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6118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38061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483864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Socio-economic considerations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394960" y="3465576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community well-being, share benefits equitably, and support livelihoods that depend on natural resources.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50749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526923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946904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planning &amp; adaptive management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5394960" y="4928616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scientific knowledge, monitoring and evaluation — and adjust practices as conditions change.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PILLAR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Conservation</a:t>
            </a:r>
            <a:endParaRPr lang="en-US" sz="4000" dirty="0"/>
          </a:p>
        </p:txBody>
      </p:sp>
      <p:pic>
        <p:nvPicPr>
          <p:cNvPr id="4" name="Image 0" descr="./photos/treekangaroo_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3657600" cy="406908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253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Tree-kangaroos — endemic species at the centre of PNG conservation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26280" y="1783080"/>
            <a:ext cx="7114032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92040" y="20116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protection, management and sustainable use of natural resources, ecosystems and biodiversity.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892040" y="2971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aims to preserve the diversity and integrity of living organisms and their habitats, ensuring their long-term survival and functioning.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892040" y="4069080"/>
            <a:ext cx="6400800" cy="1508760"/>
          </a:xfrm>
          <a:prstGeom prst="roundRect">
            <a:avLst>
              <a:gd name="adj" fmla="val 7273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66360" y="4224528"/>
            <a:ext cx="5897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conservation.  </a:t>
            </a:r>
            <a:pPr indent="0" marL="0">
              <a:buNone/>
            </a:pPr>
            <a:r>
              <a:rPr lang="en-US" sz="165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is the variety of life on Earth — genetic, species and ecosystem diversity. Conservation safeguards it by protecting species from extinction and preserving their habitats.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PILLAR 2 · KEY PRINCIPLES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Conservation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945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4003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7088" y="22402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protection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and restore forests, wetlands, coral reefs and grasslands critical to species survival.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21945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4003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70648" y="22402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Endangered species protection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6492240" y="30175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decline through habitat restoration, captive breeding and tackling poaching and illegal trade.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434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45491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47088" y="43891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resource use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868680" y="516636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forests, fisheries and water so human needs are balanced with ecosystem health.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43434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45491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0648" y="43891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services</a:t>
            </a:r>
            <a:endParaRPr lang="en-US" sz="1950" dirty="0"/>
          </a:p>
        </p:txBody>
      </p:sp>
      <p:sp>
        <p:nvSpPr>
          <p:cNvPr id="23" name="Text 17"/>
          <p:cNvSpPr/>
          <p:nvPr/>
        </p:nvSpPr>
        <p:spPr>
          <a:xfrm>
            <a:off x="6492240" y="516636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clean air and water, pollination, climate regulation and soil fertility that ecosystems provide.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389120" cy="4389120"/>
          </a:xfrm>
          <a:prstGeom prst="ellipse">
            <a:avLst/>
          </a:prstGeom>
          <a:solidFill>
            <a:srgbClr val="1F46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CONSERVATION MATTERS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Conservation Is a Shared Effort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and awareness turn policy into everyday practice — fostering stewardship in communities.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6192" y="2971800"/>
            <a:ext cx="914400" cy="91440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32004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0233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research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82803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species, habitats and threats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438144" y="269748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4256" y="2971800"/>
            <a:ext cx="914400" cy="91440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32004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40233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development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21024" y="482803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knowledge into rules and plans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236208" y="269748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32320" y="2971800"/>
            <a:ext cx="914400" cy="91440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2004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73368" y="40233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19088" y="482803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Landowners as active conservation partners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9034272" y="269748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930384" y="2971800"/>
            <a:ext cx="914400" cy="91440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984" y="320040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71432" y="40233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217152" y="482803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Government, NGOs, researchers and communities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PILLAR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Protection of Endangered Species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794760" cy="40233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pic>
        <p:nvPicPr>
          <p:cNvPr id="5" name="Image 0" descr="./photos/ch2/tkc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47672"/>
            <a:ext cx="3465576" cy="3694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7044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Kangaroo Conservation Program — Woodland Park Zoo &amp; PNG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63440" y="1783080"/>
            <a:ext cx="69494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taken to prevent extinction and promote recovery of species at risk of disappearing from the Earth.</a:t>
            </a:r>
            <a:endParaRPr lang="en-US" sz="20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Endangered species face a high risk of extinction in the wild, typically due to:</a:t>
            </a:r>
            <a:endParaRPr lang="en-US" sz="20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loss</a:t>
            </a:r>
            <a:endParaRPr lang="en-US" sz="20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poaching and illegal trade</a:t>
            </a:r>
            <a:endParaRPr lang="en-US" sz="20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</a:t>
            </a:r>
            <a:endParaRPr lang="en-US" sz="20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</a:t>
            </a:r>
            <a:endParaRPr lang="en-US" sz="20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species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PILLAR 3 · KEY PRINCIPLES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Endangered Species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3431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20824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394960" y="2002536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prohibit hunting, capturing, trading or harming endangered species, and set penalties for breaches.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6118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38061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483864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conservation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394960" y="3465576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preserve critical habitat; restore degraded areas and manage protected areas.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50749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526923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946904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breeding &amp; reintroduction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5394960" y="4928616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populations are critically low, breed in captivity and return animals to the wild.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PILLAR 3 · KEY PRINCIPLES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Endangered Species (cont.)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94560"/>
            <a:ext cx="822960" cy="82296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4003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7088" y="22402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monitoring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population trends and habitat needs so management can adapt in time.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2194560"/>
            <a:ext cx="822960" cy="82296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4003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70648" y="22402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Anti-poaching &amp; enforcement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6492240" y="30175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enforcement agencies and offer alternative livelihoods to communities.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43400"/>
            <a:ext cx="822960" cy="82296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45491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47088" y="43891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collaboration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868680" y="516636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cross borders — CITES regulates global trade in endangered species.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4343400"/>
            <a:ext cx="822960" cy="82296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45491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0648" y="43891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awareness &amp; education</a:t>
            </a:r>
            <a:endParaRPr lang="en-US" sz="1950" dirty="0"/>
          </a:p>
        </p:txBody>
      </p:sp>
      <p:sp>
        <p:nvSpPr>
          <p:cNvPr id="23" name="Text 17"/>
          <p:cNvSpPr/>
          <p:nvPr/>
        </p:nvSpPr>
        <p:spPr>
          <a:xfrm>
            <a:off x="6492240" y="516636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and community programmes build understanding and responsibility.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hotos/rainforest_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0F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423160"/>
            <a:ext cx="8778240" cy="2377440"/>
          </a:xfrm>
          <a:prstGeom prst="rect">
            <a:avLst/>
          </a:prstGeom>
          <a:solidFill>
            <a:srgbClr val="14300F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0972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731520" y="26974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Laws Governing Wildlife Management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77240" y="41148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legislation that turns policy into enforceable protection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BACKBONE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Legislation in PNG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pic>
        <p:nvPicPr>
          <p:cNvPr id="5" name="Image 0" descr="./photos/ch2/cb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47672"/>
            <a:ext cx="4700016" cy="1956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1422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cbd.int/countries/?country=pg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572000"/>
            <a:ext cx="5029200" cy="1463040"/>
          </a:xfrm>
          <a:prstGeom prst="roundRect">
            <a:avLst>
              <a:gd name="adj" fmla="val 7500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4736592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laws provide the framework for wildlife management, regulate hunting and trade, and set penalties for illegal activities.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943600" y="1783080"/>
            <a:ext cx="5696712" cy="804672"/>
          </a:xfrm>
          <a:prstGeom prst="roundRect">
            <a:avLst>
              <a:gd name="adj" fmla="val 13636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0" y="1837944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Fauna (Protection and Control) Act 1966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217920" y="21945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wildlife law — protected fauna, sanctuaries, WMAs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43600" y="2660904"/>
            <a:ext cx="5696712" cy="804672"/>
          </a:xfrm>
          <a:prstGeom prst="roundRect">
            <a:avLst>
              <a:gd name="adj" fmla="val 13636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0" y="271576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Areas Act 1978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217920" y="307238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areas for sites of biological importance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43600" y="3538728"/>
            <a:ext cx="5696712" cy="804672"/>
          </a:xfrm>
          <a:prstGeom prst="roundRect">
            <a:avLst>
              <a:gd name="adj" fmla="val 13636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17920" y="35935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Act 1982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217920" y="395020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for conservation and public enjoyment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943600" y="4416552"/>
            <a:ext cx="5696712" cy="804672"/>
          </a:xfrm>
          <a:prstGeom prst="roundRect">
            <a:avLst>
              <a:gd name="adj" fmla="val 13636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17920" y="4471416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Trade (Flora &amp; Fauna) Act 1979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217920" y="482803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PNG's CITES obligations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943600" y="5294376"/>
            <a:ext cx="5696712" cy="804672"/>
          </a:xfrm>
          <a:prstGeom prst="roundRect">
            <a:avLst>
              <a:gd name="adj" fmla="val 13636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217920" y="534924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Areas Act 2023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6217920" y="570585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national protected-area system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WILDLIFE LAW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Fauna (Protection and Control) Act 1966</a:t>
            </a:r>
            <a:endParaRPr lang="en-US" sz="4000" dirty="0"/>
          </a:p>
        </p:txBody>
      </p:sp>
      <p:pic>
        <p:nvPicPr>
          <p:cNvPr id="4" name="Image 0" descr="./photos/cassowary_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75320" y="1783080"/>
            <a:ext cx="3364992" cy="402336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75320" y="5870448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Cassowaries are among PNG's protected fauna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7406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29968"/>
            <a:ext cx="548640" cy="5486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671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002536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protected fauna by notice in the National Gazette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868680" y="2670048"/>
            <a:ext cx="548640" cy="5486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0720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2642616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all protected animals the property of the State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868680" y="3310128"/>
            <a:ext cx="548640" cy="5486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4728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3282696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sanctuaries and Wildlife Management Areas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868680" y="3950208"/>
            <a:ext cx="548640" cy="5486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087368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00200" y="3922776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permits to take, keep, trade or export wildlife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868680" y="4590288"/>
            <a:ext cx="548640" cy="5486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727448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600200" y="4562856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Appoints Rangers and a Conservator of Fauna to enforce it</a:t>
            </a:r>
            <a:endParaRPr lang="en-US" sz="1800" dirty="0"/>
          </a:p>
        </p:txBody>
      </p:sp>
      <p:sp>
        <p:nvSpPr>
          <p:cNvPr id="22" name="Shape 14"/>
          <p:cNvSpPr/>
          <p:nvPr/>
        </p:nvSpPr>
        <p:spPr>
          <a:xfrm>
            <a:off x="868680" y="5230368"/>
            <a:ext cx="548640" cy="5486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367528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600200" y="5202936"/>
            <a:ext cx="6126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penalties for illegal hunting, capture and trade</a:t>
            </a:r>
            <a:endParaRPr lang="en-US" sz="1800" dirty="0"/>
          </a:p>
        </p:txBody>
      </p:sp>
      <p:sp>
        <p:nvSpPr>
          <p:cNvPr id="25" name="Text 16"/>
          <p:cNvSpPr/>
          <p:nvPr/>
        </p:nvSpPr>
        <p:spPr>
          <a:xfrm>
            <a:off x="868680" y="523036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Amended in 2014 and 2015 — the Act now sits under CEPA, whose Managing Director is the Conservator of Fauna.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3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389120" cy="4389120"/>
          </a:xfrm>
          <a:prstGeom prst="ellipse">
            <a:avLst/>
          </a:prstGeom>
          <a:solidFill>
            <a:srgbClr val="1F46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NEWEST LAW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Areas Act 2023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by Parliament in February 2024 after two decades of drafting.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6192" y="2971800"/>
            <a:ext cx="914400" cy="91440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32004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0233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'30 by 30' target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82803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30% of PNG's land and sea by 2030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438144" y="269748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4256" y="2971800"/>
            <a:ext cx="914400" cy="91440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32004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40233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landowners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21024" y="482803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process to declare protected areas on customary land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236208" y="269748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32320" y="2971800"/>
            <a:ext cx="914400" cy="91440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2004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73368" y="40233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&amp; Climate Fund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19088" y="482803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fund communities can access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9034272" y="269748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930384" y="2971800"/>
            <a:ext cx="914400" cy="91440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984" y="320040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71432" y="40233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livelihoods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217152" y="482803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forest-dependent communities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hotos/rainforest_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0F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423160"/>
            <a:ext cx="8778240" cy="2377440"/>
          </a:xfrm>
          <a:prstGeom prst="rect">
            <a:avLst/>
          </a:prstGeom>
          <a:solidFill>
            <a:srgbClr val="14300F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0972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731520" y="26974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Wildlife Conservation Areas in PNG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77240" y="41148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WMAs · National Parks · Conservation Areas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PNG'S UNIQUE FLORA AND FAUNA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Wildlife Conservation Areas in PNG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pic>
        <p:nvPicPr>
          <p:cNvPr id="5" name="Image 0" descr="./photos/ch2/touris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47672"/>
            <a:ext cx="5248656" cy="32826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6811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PNG's protected landscapes and seascapes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0" y="1783080"/>
            <a:ext cx="525780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has a diverse range of wildlife conservation areas — wildlife management areas (WMA), national parks, conservation areas and more.</a:t>
            </a:r>
            <a:endParaRPr lang="en-US" sz="20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areas play a crucial role in protecting and conserving PNG's unique flora and fauna.</a:t>
            </a:r>
            <a:endParaRPr lang="en-US" sz="20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provide habitat for threatened species, support research and education, and offer recreational opportunities for visitors.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PNG MODEL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Wildlife Management Areas (WMA)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pic>
        <p:nvPicPr>
          <p:cNvPr id="5" name="Image 0" descr="./photos/ch2/wmapap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47672"/>
            <a:ext cx="4700016" cy="2276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4622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 &amp; West — Wildlife consumption in PNG, a vital resource in need of management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892040"/>
            <a:ext cx="5029200" cy="1188720"/>
          </a:xfrm>
          <a:prstGeom prst="roundRect">
            <a:avLst>
              <a:gd name="adj" fmla="val 9231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5029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WMAs are a legal structure through which communities exercise greater control over their own wildlife resources.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0" y="1783080"/>
            <a:ext cx="571500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regions where wildlife resources are managed sustainably for the benefit of local communities and conservation.</a:t>
            </a:r>
            <a:endParaRPr lang="en-US" sz="19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WMAs involve collaboration between:</a:t>
            </a:r>
            <a:endParaRPr lang="en-US" sz="19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8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agencies</a:t>
            </a:r>
            <a:endParaRPr lang="en-US" sz="19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8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communities</a:t>
            </a:r>
            <a:endParaRPr lang="en-US" sz="19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8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stakeholders</a:t>
            </a:r>
            <a:endParaRPr lang="en-US" sz="19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balance the economic needs of communities with the conservation of biodiversity.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STATE-PROTECTED LANDS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Parks &amp; Protected Areas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8463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pic>
        <p:nvPicPr>
          <p:cNvPr id="5" name="Image 0" descr="./photos/ch2/parkstab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47672"/>
            <a:ext cx="4517136" cy="3694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704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PNG's top national parks and protected areas, by area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60720" y="1783080"/>
            <a:ext cx="585216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conserve outstanding natural and cultural heritage.</a:t>
            </a:r>
            <a:endParaRPr lang="en-US" sz="20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preserve unique ecosystems, promote environmental education and support scientific research.</a:t>
            </a:r>
            <a:endParaRPr lang="en-US" sz="20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Well-known examples include Varirata, McAdam, Mount Gahavisuka and Namanatabu.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760720" y="4709160"/>
            <a:ext cx="5879592" cy="1234440"/>
          </a:xfrm>
          <a:prstGeom prst="roundRect">
            <a:avLst>
              <a:gd name="adj" fmla="val 8889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484632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6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entries in this table — Tonda and Maza — are Wildlife Management Areas rather than national parks.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CONSERVATION-FIRST AREAS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Conservation Areas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0312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areas in Papua New Guinea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government, local communities and NGOs to protect unique biodiversity and cultural heritage.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43400" y="1783080"/>
            <a:ext cx="402336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for the protection and management of natural resources, including wildlife.</a:t>
            </a:r>
            <a:endParaRPr lang="en-US" sz="19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encompass diverse ecosystems — rainforests, wetlands and coral reefs.</a:t>
            </a:r>
            <a:endParaRPr lang="en-US" sz="19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critical habitat for endemic species and anchor national conservation efforts.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503920" y="1783080"/>
            <a:ext cx="3136392" cy="402336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7824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Well-known examples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778240" y="2606040"/>
            <a:ext cx="548640" cy="5486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74320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464040" y="2587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Kokoda Track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464040" y="29077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/ Oro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778240" y="3566160"/>
            <a:ext cx="548640" cy="5486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37033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464040" y="35478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Sepik River Basin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464040" y="38679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Sepik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778240" y="4526280"/>
            <a:ext cx="548640" cy="5486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46634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64040" y="45079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 Conservation Area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464040" y="4828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Huon Peninsula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778240" y="5349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 was PNG's first Conservation Area, created by landowners for the Matschie's tree-kangaroo.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hotos/kuk_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0F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423160"/>
            <a:ext cx="8778240" cy="2377440"/>
          </a:xfrm>
          <a:prstGeom prst="rect">
            <a:avLst/>
          </a:prstGeom>
          <a:solidFill>
            <a:srgbClr val="14300F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0972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731520" y="26974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Heritage Sites &amp; Others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77240" y="41148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PNG's place in the global heritage and conservation system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PNG'S ONLY INSCRIBED SITE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Kuk Early Agricultural Site</a:t>
            </a:r>
            <a:endParaRPr lang="en-US" sz="4000" dirty="0"/>
          </a:p>
        </p:txBody>
      </p:sp>
      <p:pic>
        <p:nvPicPr>
          <p:cNvPr id="4" name="Image 0" descr="./photos/kuk_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1783080"/>
            <a:ext cx="3959352" cy="402336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5870448"/>
            <a:ext cx="3959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 Swamp, Western Highlands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6858000" cy="4023360"/>
          </a:xfrm>
          <a:prstGeom prst="roundRect">
            <a:avLst>
              <a:gd name="adj" fmla="val 2727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99339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Inscribed by UNESCO in 2008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6355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116-hectare swamp in the Wahgi Valley, ~1,550 m above sea level — one of the few places on Earth where people independently invented agriculture.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37947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393649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776472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~7,000–10,000 years of near-continuous wetland cultivation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868680" y="4480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462229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462272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Taro, banana and sugarcane domesticated by Highland peoples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868680" y="51663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308092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5148072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Melpa-speaking Kawelka people are custodians today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PNG's World Heritage Tentative List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pic>
        <p:nvPicPr>
          <p:cNvPr id="5" name="Image 0" descr="./photos/ch2/tenta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47672"/>
            <a:ext cx="4791456" cy="2688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737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tentative list — sites PNG intends to nominate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5257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pic>
        <p:nvPicPr>
          <p:cNvPr id="8" name="Image 1" descr="./photos/ch2/whrepo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3232" y="5422392"/>
            <a:ext cx="2048256" cy="104241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063240" y="52578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pic>
        <p:nvPicPr>
          <p:cNvPr id="10" name="Image 2" descr="./photos/ch2/haustambara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27832" y="5422392"/>
            <a:ext cx="2276856" cy="10424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89320" y="1783080"/>
            <a:ext cx="56692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 is PNG's only inscribed World Heritage Site — but seven further sites sit on the tentative list.</a:t>
            </a:r>
            <a:endParaRPr lang="en-US" sz="19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are of direct wildlife and habitat significance:</a:t>
            </a:r>
            <a:endParaRPr lang="en-US" sz="19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7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Kikori River Basin / Great Papuan Plateau</a:t>
            </a:r>
            <a:endParaRPr lang="en-US" sz="19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7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Kokoda Track and Owen Stanley Ranges</a:t>
            </a:r>
            <a:endParaRPr lang="en-US" sz="19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7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Trans-Fly Complex</a:t>
            </a:r>
            <a:endParaRPr lang="en-US" sz="19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7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Milne Bay Seascape (Pacific Jewels of Marine Biodiversity)</a:t>
            </a:r>
            <a:endParaRPr lang="en-US" sz="19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7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Sublime Karsts of Papua New Guinea</a:t>
            </a:r>
            <a:endParaRPr lang="en-US" sz="1900" dirty="0"/>
          </a:p>
          <a:p>
            <a:pPr lvl="1" marL="685800" indent="-342900">
              <a:lnSpc>
                <a:spcPct val="102000"/>
              </a:lnSpc>
              <a:spcAft>
                <a:spcPts val="400"/>
              </a:spcAft>
              <a:buSzPct val="100000"/>
              <a:buChar char="○"/>
            </a:pPr>
            <a:r>
              <a:rPr lang="en-US" sz="17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Sepik River Basin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OF ONE COIN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Forestry and Wildlife Management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pic>
        <p:nvPicPr>
          <p:cNvPr id="5" name="Image 0" descr="./photos/ch2/pngf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47672"/>
            <a:ext cx="5065776" cy="3191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37667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Forest Authority — promoting sustainable forest management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0" y="1783080"/>
            <a:ext cx="54406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between forestry and wildlife management in PNG is intricate and interconnected.</a:t>
            </a:r>
            <a:endParaRPr lang="en-US" sz="19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 provide essential habitat, and sustainable forestry can contribute directly to biodiversity conservation.</a:t>
            </a:r>
            <a:endParaRPr lang="en-US" sz="19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unsustainable logging threatens wildlife populations and their habitats.</a:t>
            </a:r>
            <a:endParaRPr lang="en-US" sz="19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r>
              <a:rPr lang="en-US" sz="19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wildlife considerations into forestry practice is crucial for ecological balance and sustainable resource use.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pic>
        <p:nvPicPr>
          <p:cNvPr id="5" name="Image 0" descr="./photos/ch2/nbs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47672"/>
            <a:ext cx="3236976" cy="3694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704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National Biodiversity Strategic Action Plan 2019–2024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434840" y="1920240"/>
            <a:ext cx="720547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09160" y="2176272"/>
            <a:ext cx="731520" cy="73152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35915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2011680"/>
            <a:ext cx="5806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has implemented wildlife management policies and laws to protect its rich biodiversity.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4434840" y="3291840"/>
            <a:ext cx="720547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3547872"/>
            <a:ext cx="731520" cy="73152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73075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23560" y="3383280"/>
            <a:ext cx="5806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WMAs, national parks and conservation areas have been instrumental in conserving unique species and ecosystems.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4434840" y="4663440"/>
            <a:ext cx="720547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709160" y="4919472"/>
            <a:ext cx="731520" cy="73152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510235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23560" y="4754880"/>
            <a:ext cx="5806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recognising the link between forestry and wildlife management, PNG aims to achieve sustainable resource use while safeguarding its natural heritage.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4434840" y="6035040"/>
            <a:ext cx="7205472" cy="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4000" dirty="0"/>
          </a:p>
        </p:txBody>
      </p:sp>
      <p:pic>
        <p:nvPicPr>
          <p:cNvPr id="4" name="Image 0" descr="./photos/raggiana_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21040" y="1783080"/>
            <a:ext cx="3319272" cy="402336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5870448"/>
            <a:ext cx="3319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Raggiana bird-of-paradise — PNG's national bird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7452360" cy="960120"/>
          </a:xfrm>
          <a:prstGeom prst="roundRect">
            <a:avLst>
              <a:gd name="adj" fmla="val 11429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48256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20482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81328" y="1828800"/>
            <a:ext cx="6355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community-based management through WMAs especially suited to PNG's customary land ownership?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7452360" cy="960120"/>
          </a:xfrm>
          <a:prstGeom prst="roundRect">
            <a:avLst>
              <a:gd name="adj" fmla="val 11429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3099816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30998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81328" y="2880360"/>
            <a:ext cx="6355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national park differ in purpose from a conservation area?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548640" y="3931920"/>
            <a:ext cx="7452360" cy="960120"/>
          </a:xfrm>
          <a:prstGeom prst="roundRect">
            <a:avLst>
              <a:gd name="adj" fmla="val 11429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4151376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41513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81328" y="3931920"/>
            <a:ext cx="6355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Protected Areas Act 2023 add that the older laws did not provide?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548640" y="4983480"/>
            <a:ext cx="7452360" cy="960120"/>
          </a:xfrm>
          <a:prstGeom prst="roundRect">
            <a:avLst>
              <a:gd name="adj" fmla="val 11429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2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202936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2029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81328" y="4983480"/>
            <a:ext cx="6355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forester, how would you reduce harm to wildlife when planning a logging operation?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1576304" y="6428232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2026-07-28T22:22:26Z</dcterms:created>
  <dcterms:modified xsi:type="dcterms:W3CDTF">2026-07-28T22:22:26Z</dcterms:modified>
</cp:coreProperties>
</file>