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 slide for FR422 Chapter 2. Insert after the Conservation Areas slide. Note for students: the Protected Areas Act 2023 regulations were still being developed after the Act passed in Feb 2024 — check current CEPA guidance.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INSTRUMENT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WMA, Conservation Area or Protected Area?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14300F"/>
          </a:solidFill>
          <a:ln/>
        </p:spPr>
      </p:sp>
      <p:sp>
        <p:nvSpPr>
          <p:cNvPr id="5" name="Shape 3"/>
          <p:cNvSpPr/>
          <p:nvPr/>
        </p:nvSpPr>
        <p:spPr>
          <a:xfrm>
            <a:off x="2587752" y="1572768"/>
            <a:ext cx="2962656" cy="566928"/>
          </a:xfrm>
          <a:prstGeom prst="roundRect">
            <a:avLst>
              <a:gd name="adj" fmla="val 9677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2660904" y="1572768"/>
            <a:ext cx="2816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MANAGEMENT AREA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623560" y="1572768"/>
            <a:ext cx="2962656" cy="566928"/>
          </a:xfrm>
          <a:prstGeom prst="roundRect">
            <a:avLst>
              <a:gd name="adj" fmla="val 9677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5696712" y="1572768"/>
            <a:ext cx="2816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AREA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659368" y="1572768"/>
            <a:ext cx="2962656" cy="566928"/>
          </a:xfrm>
          <a:prstGeom prst="roundRect">
            <a:avLst>
              <a:gd name="adj" fmla="val 9677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732520" y="1572768"/>
            <a:ext cx="2816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AREA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1965960" cy="521208"/>
          </a:xfrm>
          <a:prstGeom prst="roundRect">
            <a:avLst>
              <a:gd name="adj" fmla="val 8772"/>
            </a:avLst>
          </a:prstGeom>
          <a:solidFill>
            <a:srgbClr val="E8F0E2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194560"/>
            <a:ext cx="174650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law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2587752" y="2194560"/>
            <a:ext cx="2962656" cy="521208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2194560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Fauna (Protection and Control) Act 1966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23560" y="2194560"/>
            <a:ext cx="2962656" cy="521208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733288" y="2194560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Areas Act 1978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59368" y="2194560"/>
            <a:ext cx="2962656" cy="521208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769096" y="2194560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Areas Act 2023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2761488"/>
            <a:ext cx="1965960" cy="521208"/>
          </a:xfrm>
          <a:prstGeom prst="roundRect">
            <a:avLst>
              <a:gd name="adj" fmla="val 8772"/>
            </a:avLst>
          </a:prstGeom>
          <a:solidFill>
            <a:srgbClr val="E8F0E2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61488"/>
            <a:ext cx="174650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controls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2587752" y="2761488"/>
            <a:ext cx="2962656" cy="521208"/>
          </a:xfrm>
          <a:prstGeom prst="roundRect">
            <a:avLst>
              <a:gd name="adj" fmla="val 8772"/>
            </a:avLst>
          </a:prstGeom>
          <a:solidFill>
            <a:srgbClr val="F4F7F1"/>
          </a:solidFill>
          <a:ln/>
        </p:spPr>
      </p:sp>
      <p:sp>
        <p:nvSpPr>
          <p:cNvPr id="22" name="Text 20"/>
          <p:cNvSpPr/>
          <p:nvPr/>
        </p:nvSpPr>
        <p:spPr>
          <a:xfrm>
            <a:off x="2697480" y="2761488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and killing of fauna only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23560" y="2761488"/>
            <a:ext cx="2962656" cy="521208"/>
          </a:xfrm>
          <a:prstGeom prst="roundRect">
            <a:avLst>
              <a:gd name="adj" fmla="val 8772"/>
            </a:avLst>
          </a:prstGeom>
          <a:solidFill>
            <a:srgbClr val="F4F7F1"/>
          </a:solidFill>
          <a:ln/>
        </p:spPr>
      </p:sp>
      <p:sp>
        <p:nvSpPr>
          <p:cNvPr id="24" name="Text 22"/>
          <p:cNvSpPr/>
          <p:nvPr/>
        </p:nvSpPr>
        <p:spPr>
          <a:xfrm>
            <a:off x="5733288" y="2761488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use and development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659368" y="2761488"/>
            <a:ext cx="2962656" cy="521208"/>
          </a:xfrm>
          <a:prstGeom prst="roundRect">
            <a:avLst>
              <a:gd name="adj" fmla="val 8772"/>
            </a:avLst>
          </a:prstGeom>
          <a:solidFill>
            <a:srgbClr val="F4F7F1"/>
          </a:solidFill>
          <a:ln/>
        </p:spPr>
      </p:sp>
      <p:sp>
        <p:nvSpPr>
          <p:cNvPr id="26" name="Text 24"/>
          <p:cNvSpPr/>
          <p:nvPr/>
        </p:nvSpPr>
        <p:spPr>
          <a:xfrm>
            <a:off x="8769096" y="2761488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management regime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3328416"/>
            <a:ext cx="1965960" cy="521208"/>
          </a:xfrm>
          <a:prstGeom prst="roundRect">
            <a:avLst>
              <a:gd name="adj" fmla="val 8772"/>
            </a:avLst>
          </a:prstGeom>
          <a:solidFill>
            <a:srgbClr val="E8F0E2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3328416"/>
            <a:ext cx="174650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initiates it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2587752" y="3328416"/>
            <a:ext cx="2962656" cy="521208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2697480" y="3328416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Customary landowners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623560" y="3328416"/>
            <a:ext cx="2962656" cy="521208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733288" y="3328416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person or authority (written request)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659368" y="3328416"/>
            <a:ext cx="2962656" cy="521208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8769096" y="3328416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Landowners with CEPA, under FPIC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3895344"/>
            <a:ext cx="1965960" cy="521208"/>
          </a:xfrm>
          <a:prstGeom prst="roundRect">
            <a:avLst>
              <a:gd name="adj" fmla="val 8772"/>
            </a:avLst>
          </a:prstGeom>
          <a:solidFill>
            <a:srgbClr val="E8F0E2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3895344"/>
            <a:ext cx="174650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declares it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2587752" y="3895344"/>
            <a:ext cx="2962656" cy="521208"/>
          </a:xfrm>
          <a:prstGeom prst="roundRect">
            <a:avLst>
              <a:gd name="adj" fmla="val 8772"/>
            </a:avLst>
          </a:prstGeom>
          <a:solidFill>
            <a:srgbClr val="F4F7F1"/>
          </a:solidFill>
          <a:ln/>
        </p:spPr>
      </p:sp>
      <p:sp>
        <p:nvSpPr>
          <p:cNvPr id="38" name="Text 36"/>
          <p:cNvSpPr/>
          <p:nvPr/>
        </p:nvSpPr>
        <p:spPr>
          <a:xfrm>
            <a:off x="2697480" y="3895344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Minister — National Gazette notice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623560" y="3895344"/>
            <a:ext cx="2962656" cy="521208"/>
          </a:xfrm>
          <a:prstGeom prst="roundRect">
            <a:avLst>
              <a:gd name="adj" fmla="val 8772"/>
            </a:avLst>
          </a:prstGeom>
          <a:solidFill>
            <a:srgbClr val="F4F7F1"/>
          </a:solidFill>
          <a:ln/>
        </p:spPr>
      </p:sp>
      <p:sp>
        <p:nvSpPr>
          <p:cNvPr id="40" name="Text 38"/>
          <p:cNvSpPr/>
          <p:nvPr/>
        </p:nvSpPr>
        <p:spPr>
          <a:xfrm>
            <a:off x="5733288" y="3895344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State, on NEC advice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659368" y="3895344"/>
            <a:ext cx="2962656" cy="521208"/>
          </a:xfrm>
          <a:prstGeom prst="roundRect">
            <a:avLst>
              <a:gd name="adj" fmla="val 8772"/>
            </a:avLst>
          </a:prstGeom>
          <a:solidFill>
            <a:srgbClr val="F4F7F1"/>
          </a:solidFill>
          <a:ln/>
        </p:spPr>
      </p:sp>
      <p:sp>
        <p:nvSpPr>
          <p:cNvPr id="42" name="Text 40"/>
          <p:cNvSpPr/>
          <p:nvPr/>
        </p:nvSpPr>
        <p:spPr>
          <a:xfrm>
            <a:off x="8769096" y="3895344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 process under the Act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48640" y="4462272"/>
            <a:ext cx="1965960" cy="521208"/>
          </a:xfrm>
          <a:prstGeom prst="roundRect">
            <a:avLst>
              <a:gd name="adj" fmla="val 8772"/>
            </a:avLst>
          </a:prstGeom>
          <a:solidFill>
            <a:srgbClr val="E8F0E2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" y="4462272"/>
            <a:ext cx="174650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plan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2587752" y="4462272"/>
            <a:ext cx="2962656" cy="521208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2697480" y="4462272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 — committee rules instead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623560" y="4462272"/>
            <a:ext cx="2962656" cy="521208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733288" y="4462272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— Minister-approved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59368" y="4462272"/>
            <a:ext cx="2962656" cy="521208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8769096" y="4462272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— drafted by landowning clans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548640" y="5029200"/>
            <a:ext cx="1965960" cy="521208"/>
          </a:xfrm>
          <a:prstGeom prst="roundRect">
            <a:avLst>
              <a:gd name="adj" fmla="val 8772"/>
            </a:avLst>
          </a:prstGeom>
          <a:solidFill>
            <a:srgbClr val="E8F0E2"/>
          </a:solidFill>
          <a:ln/>
        </p:spPr>
      </p:sp>
      <p:sp>
        <p:nvSpPr>
          <p:cNvPr id="52" name="Text 50"/>
          <p:cNvSpPr/>
          <p:nvPr/>
        </p:nvSpPr>
        <p:spPr>
          <a:xfrm>
            <a:off x="658368" y="5029200"/>
            <a:ext cx="174650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mechanism</a:t>
            </a:r>
            <a:endParaRPr lang="en-US" sz="1450" dirty="0"/>
          </a:p>
        </p:txBody>
      </p:sp>
      <p:sp>
        <p:nvSpPr>
          <p:cNvPr id="53" name="Shape 51"/>
          <p:cNvSpPr/>
          <p:nvPr/>
        </p:nvSpPr>
        <p:spPr>
          <a:xfrm>
            <a:off x="2587752" y="5029200"/>
            <a:ext cx="2962656" cy="521208"/>
          </a:xfrm>
          <a:prstGeom prst="roundRect">
            <a:avLst>
              <a:gd name="adj" fmla="val 8772"/>
            </a:avLst>
          </a:prstGeom>
          <a:solidFill>
            <a:srgbClr val="F4F7F1"/>
          </a:solidFill>
          <a:ln/>
        </p:spPr>
      </p:sp>
      <p:sp>
        <p:nvSpPr>
          <p:cNvPr id="54" name="Text 52"/>
          <p:cNvSpPr/>
          <p:nvPr/>
        </p:nvSpPr>
        <p:spPr>
          <a:xfrm>
            <a:off x="2697480" y="5029200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rules, licensing and royalties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623560" y="5029200"/>
            <a:ext cx="2962656" cy="521208"/>
          </a:xfrm>
          <a:prstGeom prst="roundRect">
            <a:avLst>
              <a:gd name="adj" fmla="val 8772"/>
            </a:avLst>
          </a:prstGeom>
          <a:solidFill>
            <a:srgbClr val="F4F7F1"/>
          </a:solidFill>
          <a:ln/>
        </p:spPr>
      </p:sp>
      <p:sp>
        <p:nvSpPr>
          <p:cNvPr id="56" name="Text 54"/>
          <p:cNvSpPr/>
          <p:nvPr/>
        </p:nvSpPr>
        <p:spPr>
          <a:xfrm>
            <a:off x="5733288" y="5029200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 up to K40,000 for unauthorised development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8659368" y="5029200"/>
            <a:ext cx="2962656" cy="521208"/>
          </a:xfrm>
          <a:prstGeom prst="roundRect">
            <a:avLst>
              <a:gd name="adj" fmla="val 8772"/>
            </a:avLst>
          </a:prstGeom>
          <a:solidFill>
            <a:srgbClr val="F4F7F1"/>
          </a:solidFill>
          <a:ln/>
        </p:spPr>
      </p:sp>
      <p:sp>
        <p:nvSpPr>
          <p:cNvPr id="58" name="Text 56"/>
          <p:cNvSpPr/>
          <p:nvPr/>
        </p:nvSpPr>
        <p:spPr>
          <a:xfrm>
            <a:off x="8769096" y="5029200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deeds negotiated with landowners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48640" y="5596128"/>
            <a:ext cx="1965960" cy="521208"/>
          </a:xfrm>
          <a:prstGeom prst="roundRect">
            <a:avLst>
              <a:gd name="adj" fmla="val 8772"/>
            </a:avLst>
          </a:prstGeom>
          <a:solidFill>
            <a:srgbClr val="E8F0E2"/>
          </a:solidFill>
          <a:ln/>
        </p:spPr>
      </p:sp>
      <p:sp>
        <p:nvSpPr>
          <p:cNvPr id="60" name="Text 58"/>
          <p:cNvSpPr/>
          <p:nvPr/>
        </p:nvSpPr>
        <p:spPr>
          <a:xfrm>
            <a:off x="658368" y="5596128"/>
            <a:ext cx="174650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appropriate when</a:t>
            </a:r>
            <a:endParaRPr lang="en-US" sz="1450" dirty="0"/>
          </a:p>
        </p:txBody>
      </p:sp>
      <p:sp>
        <p:nvSpPr>
          <p:cNvPr id="61" name="Shape 59"/>
          <p:cNvSpPr/>
          <p:nvPr/>
        </p:nvSpPr>
        <p:spPr>
          <a:xfrm>
            <a:off x="2587752" y="5596128"/>
            <a:ext cx="2962656" cy="521208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2697480" y="5596128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Regulating hunting; community keeps using the resource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5623560" y="5596128"/>
            <a:ext cx="2962656" cy="521208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5733288" y="5596128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is land-use change on a significant site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8659368" y="5596128"/>
            <a:ext cx="2962656" cy="521208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8769096" y="5596128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Durable, funded, nationally recognised status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548640" y="623620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sit on customary land — securing genuine, well-documented landowner consent is the decisive factor in every case.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2026-07-29T01:30:23Z</dcterms:created>
  <dcterms:modified xsi:type="dcterms:W3CDTF">2026-07-29T01:30:23Z</dcterms:modified>
</cp:coreProperties>
</file>